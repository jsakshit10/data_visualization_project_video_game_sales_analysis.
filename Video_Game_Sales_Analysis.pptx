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Sales (M)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PS2</c:v>
                  </c:pt>
                  <c:pt idx="1">
                    <c:v>X360</c:v>
                  </c:pt>
                  <c:pt idx="2">
                    <c:v>PS3</c:v>
                  </c:pt>
                  <c:pt idx="3">
                    <c:v>Wii</c:v>
                  </c:pt>
                  <c:pt idx="4">
                    <c:v>DS</c:v>
                  </c:pt>
                  <c:pt idx="5">
                    <c:v>PS4</c:v>
                  </c:pt>
                  <c:pt idx="6">
                    <c:v>PS</c:v>
                  </c:pt>
                  <c:pt idx="7">
                    <c:v>XB</c:v>
                  </c:pt>
                  <c:pt idx="8">
                    <c:v>PC</c:v>
                  </c:pt>
                  <c:pt idx="9">
                    <c:v>PSP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970.2</c:v>
                </c:pt>
                <c:pt idx="1">
                  <c:v>869.8</c:v>
                </c:pt>
                <c:pt idx="2">
                  <c:v>806.1</c:v>
                </c:pt>
                <c:pt idx="3">
                  <c:v>684.1</c:v>
                </c:pt>
                <c:pt idx="4">
                  <c:v>384.8</c:v>
                </c:pt>
                <c:pt idx="5">
                  <c:v>252.7</c:v>
                </c:pt>
                <c:pt idx="6">
                  <c:v>225.4</c:v>
                </c:pt>
                <c:pt idx="7">
                  <c:v>216.7</c:v>
                </c:pt>
                <c:pt idx="8">
                  <c:v>192.8</c:v>
                </c:pt>
                <c:pt idx="9">
                  <c:v>189.8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F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A"/>
                    </a:solidFill>
                    <a:latin typeface="Arial"/>
                  </a:rPr>
                  <a:t>Global Sales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Sales (M)</c:v>
                </c:pt>
              </c:strCache>
            </c:strRef>
          </c:tx>
          <c:spPr>
            <a:solidFill>
              <a:srgbClr val="2EE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6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Action</c:v>
                  </c:pt>
                  <c:pt idx="1">
                    <c:v>Sports</c:v>
                  </c:pt>
                  <c:pt idx="2">
                    <c:v>Shooter</c:v>
                  </c:pt>
                  <c:pt idx="3">
                    <c:v>Misc</c:v>
                  </c:pt>
                  <c:pt idx="4">
                    <c:v>Racing</c:v>
                  </c:pt>
                  <c:pt idx="5">
                    <c:v>Role-Playing</c:v>
                  </c:pt>
                  <c:pt idx="6">
                    <c:v>Platform</c:v>
                  </c:pt>
                  <c:pt idx="7">
                    <c:v>Simulation</c:v>
                  </c:pt>
                  <c:pt idx="8">
                    <c:v>Fighting</c:v>
                  </c:pt>
                  <c:pt idx="9">
                    <c:v>Adventure</c:v>
                  </c:pt>
                  <c:pt idx="10">
                    <c:v>Puzzle</c:v>
                  </c:pt>
                  <c:pt idx="11">
                    <c:v>Strategy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1378.2</c:v>
                </c:pt>
                <c:pt idx="1">
                  <c:v>1013.8</c:v>
                </c:pt>
                <c:pt idx="2">
                  <c:v>883.4</c:v>
                </c:pt>
                <c:pt idx="3">
                  <c:v>562.1</c:v>
                </c:pt>
                <c:pt idx="4">
                  <c:v>547.6</c:v>
                </c:pt>
                <c:pt idx="5">
                  <c:v>527.1</c:v>
                </c:pt>
                <c:pt idx="6">
                  <c:v>429.7</c:v>
                </c:pt>
                <c:pt idx="7">
                  <c:v>279.6</c:v>
                </c:pt>
                <c:pt idx="8">
                  <c:v>279.6</c:v>
                </c:pt>
                <c:pt idx="9">
                  <c:v>132.2</c:v>
                </c:pt>
                <c:pt idx="10">
                  <c:v>113</c:v>
                </c:pt>
                <c:pt idx="11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2F6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2344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CA0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8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2344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0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Sales (M)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1985</c:v>
                  </c:pt>
                  <c:pt idx="1">
                    <c:v>1990</c:v>
                  </c:pt>
                  <c:pt idx="2">
                    <c:v>1993</c:v>
                  </c:pt>
                  <c:pt idx="3">
                    <c:v>1995</c:v>
                  </c:pt>
                  <c:pt idx="4">
                    <c:v>1997</c:v>
                  </c:pt>
                  <c:pt idx="5">
                    <c:v>1998</c:v>
                  </c:pt>
                  <c:pt idx="6">
                    <c:v>1999</c:v>
                  </c:pt>
                  <c:pt idx="7">
                    <c:v>2000</c:v>
                  </c:pt>
                  <c:pt idx="8">
                    <c:v>2001</c:v>
                  </c:pt>
                  <c:pt idx="9">
                    <c:v>2002</c:v>
                  </c:pt>
                  <c:pt idx="10">
                    <c:v>2003</c:v>
                  </c:pt>
                  <c:pt idx="11">
                    <c:v>2004</c:v>
                  </c:pt>
                  <c:pt idx="12">
                    <c:v>2005</c:v>
                  </c:pt>
                  <c:pt idx="13">
                    <c:v>2006</c:v>
                  </c:pt>
                  <c:pt idx="14">
                    <c:v>2007</c:v>
                  </c:pt>
                  <c:pt idx="15">
                    <c:v>2008</c:v>
                  </c:pt>
                  <c:pt idx="16">
                    <c:v>2009</c:v>
                  </c:pt>
                  <c:pt idx="17">
                    <c:v>2010</c:v>
                  </c:pt>
                  <c:pt idx="18">
                    <c:v>2011</c:v>
                  </c:pt>
                  <c:pt idx="19">
                    <c:v>2012</c:v>
                  </c:pt>
                  <c:pt idx="20">
                    <c:v>2013</c:v>
                  </c:pt>
                  <c:pt idx="21">
                    <c:v>2014</c:v>
                  </c:pt>
                  <c:pt idx="22">
                    <c:v>2015</c:v>
                  </c:pt>
                  <c:pt idx="23">
                    <c:v>2016</c:v>
                  </c:pt>
                  <c:pt idx="24">
                    <c:v>2020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10</c:v>
                </c:pt>
                <c:pt idx="4">
                  <c:v>50</c:v>
                </c:pt>
                <c:pt idx="5">
                  <c:v>65</c:v>
                </c:pt>
                <c:pt idx="6">
                  <c:v>60</c:v>
                </c:pt>
                <c:pt idx="7">
                  <c:v>100</c:v>
                </c:pt>
                <c:pt idx="8">
                  <c:v>290</c:v>
                </c:pt>
                <c:pt idx="9">
                  <c:v>325</c:v>
                </c:pt>
                <c:pt idx="10">
                  <c:v>280</c:v>
                </c:pt>
                <c:pt idx="11">
                  <c:v>360</c:v>
                </c:pt>
                <c:pt idx="12">
                  <c:v>365</c:v>
                </c:pt>
                <c:pt idx="13">
                  <c:v>450</c:v>
                </c:pt>
                <c:pt idx="14">
                  <c:v>520</c:v>
                </c:pt>
                <c:pt idx="15">
                  <c:v>600</c:v>
                </c:pt>
                <c:pt idx="16">
                  <c:v>590</c:v>
                </c:pt>
                <c:pt idx="17">
                  <c:v>510</c:v>
                </c:pt>
                <c:pt idx="18">
                  <c:v>435</c:v>
                </c:pt>
                <c:pt idx="19">
                  <c:v>305</c:v>
                </c:pt>
                <c:pt idx="20">
                  <c:v>285</c:v>
                </c:pt>
                <c:pt idx="21">
                  <c:v>260</c:v>
                </c:pt>
                <c:pt idx="22">
                  <c:v>200</c:v>
                </c:pt>
                <c:pt idx="23">
                  <c:v>100</c:v>
                </c:pt>
                <c:pt idx="24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F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A"/>
                    </a:solidFill>
                    <a:latin typeface="Arial"/>
                  </a:rPr>
                  <a:t>Global Sales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663440"/>
            <a:ext cx="182880" cy="457200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45168" y="4297680"/>
            <a:ext cx="182880" cy="822960"/>
          </a:xfrm>
          <a:prstGeom prst="rect">
            <a:avLst/>
          </a:prstGeom>
          <a:solidFill>
            <a:srgbClr val="5B8DE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37776" y="4526280"/>
            <a:ext cx="182880" cy="594360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30384" y="3931920"/>
            <a:ext cx="182880" cy="1188720"/>
          </a:xfrm>
          <a:prstGeom prst="rect">
            <a:avLst/>
          </a:prstGeom>
          <a:solidFill>
            <a:srgbClr val="2EE6D6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22992" y="4206240"/>
            <a:ext cx="182880" cy="914400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3657600"/>
            <a:ext cx="182880" cy="1463040"/>
          </a:xfrm>
          <a:prstGeom prst="rect">
            <a:avLst/>
          </a:prstGeom>
          <a:solidFill>
            <a:srgbClr val="2EE6D6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08208" y="4389120"/>
            <a:ext cx="182880" cy="731520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3383280"/>
            <a:ext cx="182880" cy="1737360"/>
          </a:xfrm>
          <a:prstGeom prst="rect">
            <a:avLst/>
          </a:prstGeom>
          <a:solidFill>
            <a:srgbClr val="2EE6D6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93424" y="4114800"/>
            <a:ext cx="182880" cy="1005840"/>
          </a:xfrm>
          <a:prstGeom prst="rect">
            <a:avLst/>
          </a:prstGeom>
          <a:solidFill>
            <a:srgbClr val="5B8DEF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86032" y="4572000"/>
            <a:ext cx="182880" cy="548640"/>
          </a:xfrm>
          <a:prstGeom prst="rect">
            <a:avLst/>
          </a:prstGeom>
          <a:solidFill>
            <a:srgbClr val="5B8DEF">
              <a:alpha val="5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PROJECT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Video Game Sales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global platform, genre, and critic-score trends across four decades of video game releases.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5852160" cy="0"/>
          </a:xfrm>
          <a:prstGeom prst="line">
            <a:avLst/>
          </a:prstGeom>
          <a:noFill/>
          <a:ln w="12700">
            <a:solidFill>
              <a:srgbClr val="22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Plotly · Jupyter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59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Dataset (10,092 titles)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project built around an interactive dashboard analyzing 10,092 video game titles — covering global sales, genres, platforms, publishers, and critic ratings.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2700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729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420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10,092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GAMES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2700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729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5420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6,230.3M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2700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729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18504" y="25420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69.0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18504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CRITIC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51976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12700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729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25420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89136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USER SCORE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13892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profile 10K+ game records across platform, genre, and region.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61104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61104" y="47548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61104" y="513892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Plotly charts: bars, scatter, heatmap, and time series.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82128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6D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882128" y="475488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82128" y="513892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trends in platform dominance, genre popularity, and critical reception.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Top 10 Gaming Platforms by Total Global Sales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2 leads by a wide margin, followed closely by the Xbox 360 and PlayStation 3 — the three flagship consoles of the 2000s.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Global Sales by Genre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Sports, and Shooter titles dominate worldwide sales, together accounting for more than half of all global revenue.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11247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Global Sales by Release Year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game sales peaked around 2008–2009 before declining steadily — a shift widely attributed to the rise of digital distribution.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Global Sales Across Platforms and Genres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× genre heatmap reveals where sales concentrate: PS3 and X360 Action/Shooter titles, and Wii Sports, stand out as clear hotspots.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3662202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mages/Global_Sales_Across_Platforms_and_Gen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10515600" cy="31856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Critic Score vs. Global Sales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critic scores don't guarantee blockbuster sales — but nearly every top seller (25M+ copies) scored above 75, suggesting quality is a floor, not a ceiling.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281706"/>
          </a:xfrm>
          <a:prstGeom prst="roundRect">
            <a:avLst>
              <a:gd name="adj" fmla="val 1281"/>
            </a:avLst>
          </a:prstGeom>
          <a:solidFill>
            <a:srgbClr val="0F1729"/>
          </a:solidFill>
          <a:ln w="12700">
            <a:solidFill>
              <a:srgbClr val="1C283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mages/Screenshot_2026-07-03_1644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10515600" cy="37843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Interactive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packaged into a filterable dashboard — sliceable by platform, genre, and rating — for self-serve exploration.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5689619"/>
          </a:xfrm>
          <a:prstGeom prst="roundRect">
            <a:avLst>
              <a:gd name="adj" fmla="val 964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mages/Screenshot_2026-07-03_1643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034540"/>
            <a:ext cx="10561320" cy="5211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82880" cy="914400"/>
          </a:xfrm>
          <a:prstGeom prst="rect">
            <a:avLst/>
          </a:prstGeom>
          <a:solidFill>
            <a:srgbClr val="2EE6D6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685800"/>
            <a:ext cx="182880" cy="1463040"/>
          </a:xfrm>
          <a:prstGeom prst="rect">
            <a:avLst/>
          </a:prstGeom>
          <a:solidFill>
            <a:srgbClr val="2EE6D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1508760"/>
            <a:ext cx="182880" cy="640080"/>
          </a:xfrm>
          <a:prstGeom prst="rect">
            <a:avLst/>
          </a:prstGeom>
          <a:solidFill>
            <a:srgbClr val="2EE6D6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700784" y="960120"/>
            <a:ext cx="182880" cy="1188720"/>
          </a:xfrm>
          <a:prstGeom prst="rect">
            <a:avLst/>
          </a:prstGeom>
          <a:solidFill>
            <a:srgbClr val="2EE6D6">
              <a:alpha val="5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" y="3456432"/>
            <a:ext cx="91440" cy="914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101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2, Xbox 360, and PlayStation 3 drove the industry's commercial peak.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023360"/>
            <a:ext cx="91440" cy="914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770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Sports, and Shooter genres consistently outsell every other category.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4590288"/>
            <a:ext cx="91440" cy="914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4398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 peaked near 2008–2009, then declined as digital distribution grew.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5157216"/>
            <a:ext cx="91440" cy="91440"/>
          </a:xfrm>
          <a:prstGeom prst="ellipse">
            <a:avLst/>
          </a:prstGeom>
          <a:solidFill>
            <a:srgbClr val="2EE6D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10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critic scores cluster around top-selling titles, but don't guarantee them.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Game Sales Analysis</dc:title>
  <dc:subject>PptxGenJS Presentation</dc:subject>
  <dc:creator>Data Visualization Project</dc:creator>
  <cp:lastModifiedBy>Data Visualization Project</cp:lastModifiedBy>
  <cp:revision>1</cp:revision>
  <dcterms:created xsi:type="dcterms:W3CDTF">2026-07-03T15:25:53Z</dcterms:created>
  <dcterms:modified xsi:type="dcterms:W3CDTF">2026-07-03T15:25:53Z</dcterms:modified>
</cp:coreProperties>
</file>